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43F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DB8-4927-8D38-0A259BDFABA5}"/>
              </c:ext>
            </c:extLst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DB8-4927-8D38-0A259BDFABA5}"/>
              </c:ext>
            </c:extLst>
          </c:dPt>
          <c:dPt>
            <c:idx val="2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DB8-4927-8D38-0A259BDFABA5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DB8-4927-8D38-0A259BDFABA5}"/>
              </c:ext>
            </c:extLst>
          </c:dPt>
          <c:dPt>
            <c:idx val="4"/>
            <c:bubble3D val="0"/>
            <c:spPr>
              <a:solidFill>
                <a:srgbClr val="1B2A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DB8-4927-8D38-0A259BDFABA5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DB8-4927-8D38-0A259BDFABA5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DB8-4927-8D38-0A259BDFABA5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DB8-4927-8D38-0A259BDFABA5}"/>
                </c:ext>
              </c:extLst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DB8-4927-8D38-0A259BDFABA5}"/>
                </c:ext>
              </c:extLst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DB8-4927-8D38-0A259BDFABA5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DS</c:v>
                </c:pt>
                <c:pt idx="1">
                  <c:v>CS</c:v>
                </c:pt>
                <c:pt idx="2">
                  <c:v>Cyber</c:v>
                </c:pt>
                <c:pt idx="3">
                  <c:v>AI</c:v>
                </c:pt>
                <c:pt idx="4">
                  <c:v>AIML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66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DB8-4927-8D38-0A259BDFAB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TAE-1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DS</c:v>
                </c:pt>
                <c:pt idx="1">
                  <c:v>CS</c:v>
                </c:pt>
                <c:pt idx="2">
                  <c:v>Cyber</c:v>
                </c:pt>
                <c:pt idx="3">
                  <c:v>AI</c:v>
                </c:pt>
                <c:pt idx="4">
                  <c:v>AIML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7.4</c:v>
                </c:pt>
                <c:pt idx="2">
                  <c:v>7.2</c:v>
                </c:pt>
                <c:pt idx="3">
                  <c:v>7.7</c:v>
                </c:pt>
                <c:pt idx="4">
                  <c:v>7.6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DA-408F-95BD-14C23B30D5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TAE-2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DS</c:v>
                </c:pt>
                <c:pt idx="1">
                  <c:v>CS</c:v>
                </c:pt>
                <c:pt idx="2">
                  <c:v>Cyber</c:v>
                </c:pt>
                <c:pt idx="3">
                  <c:v>AI</c:v>
                </c:pt>
                <c:pt idx="4">
                  <c:v>AIML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5.4</c:v>
                </c:pt>
                <c:pt idx="1">
                  <c:v>7.4</c:v>
                </c:pt>
                <c:pt idx="2">
                  <c:v>7.5</c:v>
                </c:pt>
                <c:pt idx="3">
                  <c:v>7.7</c:v>
                </c:pt>
                <c:pt idx="4">
                  <c:v>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1DA-408F-95BD-14C23B30D5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Submitted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TAE-1</c:v>
                </c:pt>
                <c:pt idx="1">
                  <c:v>TAE-2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354</c:v>
                </c:pt>
                <c:pt idx="1">
                  <c:v>354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CE-4659-A7DB-36A092BD50D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Pending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TAE-1</c:v>
                </c:pt>
                <c:pt idx="1">
                  <c:v>TAE-2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113</c:v>
                </c:pt>
                <c:pt idx="1">
                  <c:v>113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4CE-4659-A7DB-36A092BD50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6466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TAE-1 · MySQL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TAE Submission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 database that tracks student TAE submissions, project titles and marks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27395F"/>
          </a:solidFill>
          <a:ln w="12700">
            <a:solidFill>
              <a:srgbClr val="2739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466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288036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27395F"/>
          </a:solidFill>
          <a:ln w="12700">
            <a:solidFill>
              <a:srgbClr val="2739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288036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27395F"/>
          </a:solidFill>
          <a:ln w="12700">
            <a:solidFill>
              <a:srgbClr val="2739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tables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288036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27395F"/>
          </a:solidFill>
          <a:ln w="12700">
            <a:solidFill>
              <a:srgbClr val="2739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TAE rounds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Sanika Bavaskar · Roll P49  |  Guide: Mr. Chinmay Mukim  |  G H Raisoni College of Engineering and Management, Pune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could do this, so why SQL?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TAE data, but SQL keeps it clean, linked and reusable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292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212080" cy="294436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roll no can be typed twice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 and UNIQUE reject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values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"yes", "Y", "done" all creep 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 allows only Yes / 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Linking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VLOOKUP across 4 sheets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JOIN on roll_no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Asking questions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Re-filter by hand every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 query, rerun in a click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Auto-updates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edited manually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sets status from marks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file copies, version mix-ups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central database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188720"/>
            <a:ext cx="2834640" cy="292608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8932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question, two ways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989320" y="1572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students beat their department average?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89320" y="2011680"/>
            <a:ext cx="2560320" cy="256032"/>
          </a:xfrm>
          <a:prstGeom prst="roundRect">
            <a:avLst>
              <a:gd name="adj" fmla="val 17857"/>
            </a:avLst>
          </a:prstGeom>
          <a:solidFill>
            <a:srgbClr val="FDE7EB"/>
          </a:solidFill>
          <a:ln w="12700">
            <a:solidFill>
              <a:srgbClr val="FDE7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80760" y="20116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1: Pivot table for dept averages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989320" y="2322576"/>
            <a:ext cx="2560320" cy="256032"/>
          </a:xfrm>
          <a:prstGeom prst="roundRect">
            <a:avLst>
              <a:gd name="adj" fmla="val 17857"/>
            </a:avLst>
          </a:prstGeom>
          <a:solidFill>
            <a:srgbClr val="FDE7EB"/>
          </a:solidFill>
          <a:ln w="12700">
            <a:solidFill>
              <a:srgbClr val="FDE7E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80760" y="23225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2: Helper column on every row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989320" y="2633472"/>
            <a:ext cx="2560320" cy="256032"/>
          </a:xfrm>
          <a:prstGeom prst="roundRect">
            <a:avLst>
              <a:gd name="adj" fmla="val 17857"/>
            </a:avLst>
          </a:prstGeom>
          <a:solidFill>
            <a:srgbClr val="FDE7EB"/>
          </a:solidFill>
          <a:ln w="12700">
            <a:solidFill>
              <a:srgbClr val="FDE7E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80760" y="26334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3: VLOOKUP marks + department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989320" y="2944368"/>
            <a:ext cx="2560320" cy="256032"/>
          </a:xfrm>
          <a:prstGeom prst="roundRect">
            <a:avLst>
              <a:gd name="adj" fmla="val 17857"/>
            </a:avLst>
          </a:prstGeom>
          <a:solidFill>
            <a:srgbClr val="FDE7EB"/>
          </a:solidFill>
          <a:ln w="12700">
            <a:solidFill>
              <a:srgbClr val="FDE7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080760" y="29443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4: Filter, redo if data changes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989320" y="3337560"/>
            <a:ext cx="2560320" cy="640080"/>
          </a:xfrm>
          <a:prstGeom prst="roundRect">
            <a:avLst>
              <a:gd name="adj" fmla="val 7143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89320" y="3337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1 query, 243 rows,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any time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is fine for a quick one-off look. SQL wins here because the data is linked across tables, shared by many users and queried again and again.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design: one parent, three children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is keyed on roll_no, so each student has exactly one row in each table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292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8346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2834640" cy="310896"/>
          </a:xfrm>
          <a:prstGeom prst="rect">
            <a:avLst/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2344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(parent)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6002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roll_no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160020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VARCHAR(10)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8379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registration_no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18379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20756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student_name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207568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23134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23134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25511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148840" y="255117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27889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148840" y="278892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0" y="1097280"/>
            <a:ext cx="32004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0" y="1097280"/>
            <a:ext cx="3200400" cy="3108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96128" y="10972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596128" y="14630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roll_no (FK)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146304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VARCHAR(10)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596128" y="17007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tae1_status / date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543800" y="170078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· DATE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596128" y="19385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tae2_status / date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543800" y="19385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· DATE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 flipV="1">
            <a:off x="3291840" y="1554480"/>
            <a:ext cx="2194560" cy="5486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60520" y="1719072"/>
            <a:ext cx="45720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60520" y="17190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0" y="2377440"/>
            <a:ext cx="32004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0" y="2377440"/>
            <a:ext cx="3200400" cy="31089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596128" y="23774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596128" y="27432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roll_no (FK)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543800" y="274320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VARCHAR(10)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596128" y="29809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tae1_project_title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543800" y="29809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VARCHAR(150)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5596128" y="32186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tae2_project_title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543800" y="321868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VARCHAR(150)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91840" y="2103120"/>
            <a:ext cx="2194560" cy="7315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60520" y="2359152"/>
            <a:ext cx="45720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160520" y="23591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86400" y="3657600"/>
            <a:ext cx="32004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0" y="3657600"/>
            <a:ext cx="320040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596128" y="36576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5596128" y="40233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roll_no (FK)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543800" y="40233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VARCHAR(10)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5596128" y="426110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tae1_marks / tae2_marks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7543800" y="426110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91840" y="2103120"/>
            <a:ext cx="2194560" cy="20116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60520" y="2999232"/>
            <a:ext cx="45720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160520" y="29992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457200" y="4297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roll_no is the PRIMARY KEY of every child table and also points back to Students, which is what makes the relationships one-to-one.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in SQL: CREATE TABLE and constraints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and keys chosen to keep records unique and consistent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292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206240" cy="3200400"/>
          </a:xfrm>
          <a:prstGeom prst="roundRect">
            <a:avLst>
              <a:gd name="adj" fmla="val 228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Students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roll_no VARCHAR(10) PRIMARY KEY,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registration_no VARCHAR(20)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UNIQUE NOT NULL,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student_name VARCHAR(100) NOT NULL,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department VARCHAR(100) NOT NULL,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year INT NOT NULL,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VARCHAR(150) UNIQUE NOT NULL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submission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roll_no VARCHAR(10) PRIMARY KEY,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tae1_status ENUM('Yes','No'),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tae1_submission_date DATE,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234440"/>
          <a:ext cx="3840480" cy="16916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466*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roll_no · UNIQUE registration_no, email · NOT NULL on all columns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roll_no · ENUM restricts status to Yes / No · DATE for deadlines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466*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roll_no · two VARCHAR(150) project titles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roll_no · TAE-1 and TAE-2 scores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846320" y="4069080"/>
            <a:ext cx="2904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after the P48 DELETE in the script (467 before)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says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Visualised from the INSERT scripts (466 students, 467 marks and submission rows)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292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28803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per department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28803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marks by department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651760" cy="28803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status</a:t>
            </a:r>
            <a:endParaRPr lang="en-US" sz="12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502920" y="1554480"/>
          <a:ext cx="256032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"/>
          <p:cNvGraphicFramePr/>
          <p:nvPr/>
        </p:nvGraphicFramePr>
        <p:xfrm>
          <a:off x="3291840" y="1554480"/>
          <a:ext cx="256032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Chart 2"/>
          <p:cNvGraphicFramePr/>
          <p:nvPr/>
        </p:nvGraphicFramePr>
        <p:xfrm>
          <a:off x="6080760" y="1554480"/>
          <a:ext cx="256032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averages about 5, roughly 2.5 marks below the other four departments (all around 7.2 to 7.7). 113 students (24%) are still pending in each TAE, and 23 students scored 0 in both.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and what they return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 when the script runs in MySQL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292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45643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SELECT COUNT(*) FROM Students;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466 students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SELECT department, COUNT(*) FROM Students GROUP BY department;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· 100 · 100 · 100 · 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/ MAX /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SELECT AVG(tae1_marks), MAX(tae1_marks), MIN(tae1_marks) FROM marks;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7.13 · 10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TAE-2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SELECT AVG(tae2_marks) FROM marks;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filter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SELECT * FROM marks WHERE tae1_marks &gt; 8;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 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Correlated subquery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JOIN marks ... WHERE m.tae1_marks &gt; (SELECT AVG(...) WHERE department = s.department);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243 students above their dept average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3-table JOIN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Students JOIN marks JOIN assignments ON roll_no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466 rows: marks + project titles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CREATE VIEW Student_Submission_Summary AS ... JOIN submission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+ TAE-1 / TAE-2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and stored procedure, explained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2495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JOINs connect the tables, and a procedure that reuses them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292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887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roll_no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flipV="1">
            <a:off x="1737360" y="1069848"/>
            <a:ext cx="1463040" cy="530352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896112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0" y="8961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flipV="1">
            <a:off x="1737360" y="1572768"/>
            <a:ext cx="1463040" cy="27432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399032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0" y="13990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737360" y="1600200"/>
            <a:ext cx="1463040" cy="475488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901952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0" y="1901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78308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s.roll_no = other.roll_no</a:t>
            </a:r>
            <a:endParaRPr lang="en-US" sz="8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97480"/>
          <a:ext cx="4572000" cy="1536192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 joined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answers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3-table JOIN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 + marks + assignments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 and project titles per student (466 rows)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+ subquery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 + marks, compared with dept AVG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 above their department average (243)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in a VIEW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 + submission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 name + TAE-1 / TAE-2 status report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457200" y="4206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returns only rows that have a match in both tables; roll_no is unique in every table, so each student appears once.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190978" y="1188720"/>
            <a:ext cx="3495822" cy="1263521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394960" y="1298448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r>
              <a:rPr lang="en-US" sz="80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s.student_name</a:t>
            </a: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a.tae1_project_title,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m.tae1_marks, sub.tae1_status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Students 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marks m ON </a:t>
            </a:r>
            <a:r>
              <a:rPr lang="en-US" sz="80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s.roll_no</a:t>
            </a: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0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m.roll_no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assignments a ON </a:t>
            </a:r>
            <a:r>
              <a:rPr lang="en-US" sz="80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s.roll_no</a:t>
            </a: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0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a.roll_no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submission sub ON </a:t>
            </a:r>
            <a:r>
              <a:rPr lang="en-US" sz="80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s.roll_no</a:t>
            </a: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0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sub.roll_no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</a:t>
            </a:r>
            <a:r>
              <a:rPr lang="en-US" sz="80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s.roll_no</a:t>
            </a: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0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p_roll</a:t>
            </a: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9CD0370-A7E1-A8C5-AA00-BB389CF64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978" y="2571750"/>
            <a:ext cx="3369649" cy="21945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logic and fixes to make before the demo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statements were tested on roll no P48; the trigger derives submission status from marks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292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34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marks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514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 or 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1234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UPDATE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per row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1234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&gt; 0 ?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66560" y="118872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0" y="1234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Yes / No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 the row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33172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Marks lose their decimals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29260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columns are INT, so 6.9 is stored as 7 and averages shift.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3840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Use DECIMAL(3,1).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46120" y="233172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8328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No FOREIGN KEY yet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383280" y="29260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only share roll_no, so deleting P48 from Students left rows in marks and submission.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3840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 FOREIGN KEY ... ON DELETE CASCADE.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233172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7220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Trigger points at the wrong table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172200" y="29260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targets TAE1 in two databases (tae_managment_system, StudentAssessmentDB); this schema has marks and submission.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3840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Rebuild it on marks in tae_management_system.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1250</Words>
  <Application>Microsoft Office PowerPoint</Application>
  <PresentationFormat>On-screen Show (16:9)</PresentationFormat>
  <Paragraphs>222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sanika0709@outlook.com</cp:lastModifiedBy>
  <cp:revision>2</cp:revision>
  <dcterms:created xsi:type="dcterms:W3CDTF">2026-09-23T18:51:04Z</dcterms:created>
  <dcterms:modified xsi:type="dcterms:W3CDTF">2026-09-23T18:57:54Z</dcterms:modified>
</cp:coreProperties>
</file>